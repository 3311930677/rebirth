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7" r:id="rId3"/>
    <p:sldId id="268" r:id="rId5"/>
    <p:sldId id="269" r:id="rId6"/>
    <p:sldId id="270" r:id="rId7"/>
    <p:sldId id="271" r:id="rId8"/>
    <p:sldId id="278" r:id="rId9"/>
    <p:sldId id="272" r:id="rId10"/>
    <p:sldId id="273" r:id="rId11"/>
    <p:sldId id="274" r:id="rId12"/>
    <p:sldId id="275" r:id="rId13"/>
    <p:sldId id="276" r:id="rId14"/>
    <p:sldId id="277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e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e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32.wmf"/><Relationship Id="rId5" Type="http://schemas.openxmlformats.org/officeDocument/2006/relationships/image" Target="../media/image31.emf"/><Relationship Id="rId4" Type="http://schemas.openxmlformats.org/officeDocument/2006/relationships/image" Target="../media/image30.emf"/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376" y="2130327"/>
            <a:ext cx="10362930" cy="146995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752" y="3886021"/>
            <a:ext cx="8534178" cy="175251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7"/>
          <p:cNvGrpSpPr/>
          <p:nvPr/>
        </p:nvGrpSpPr>
        <p:grpSpPr>
          <a:xfrm>
            <a:off x="431845" y="390417"/>
            <a:ext cx="520754" cy="274562"/>
            <a:chOff x="0" y="0"/>
            <a:chExt cx="1041399" cy="549275"/>
          </a:xfrm>
        </p:grpSpPr>
        <p:sp>
          <p:nvSpPr>
            <p:cNvPr id="2063" name="Freeform 16"/>
            <p:cNvSpPr/>
            <p:nvPr/>
          </p:nvSpPr>
          <p:spPr>
            <a:xfrm>
              <a:off x="0" y="0"/>
              <a:ext cx="361950" cy="549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3200"/>
            </a:p>
          </p:txBody>
        </p:sp>
        <p:sp>
          <p:nvSpPr>
            <p:cNvPr id="2064" name="Freeform 17"/>
            <p:cNvSpPr/>
            <p:nvPr/>
          </p:nvSpPr>
          <p:spPr>
            <a:xfrm>
              <a:off x="338137" y="0"/>
              <a:ext cx="360362" cy="549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3200"/>
            </a:p>
          </p:txBody>
        </p:sp>
        <p:sp>
          <p:nvSpPr>
            <p:cNvPr id="2065" name="Freeform 18"/>
            <p:cNvSpPr/>
            <p:nvPr/>
          </p:nvSpPr>
          <p:spPr>
            <a:xfrm>
              <a:off x="681037" y="0"/>
              <a:ext cx="360362" cy="549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3200"/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1008168" y="833207"/>
            <a:ext cx="1046430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56" y="374777"/>
            <a:ext cx="3973931" cy="39050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599" y="1053807"/>
            <a:ext cx="10688163" cy="5470593"/>
          </a:xfrm>
        </p:spPr>
        <p:txBody>
          <a:bodyPr/>
          <a:lstStyle>
            <a:lvl1pPr marL="0" indent="457200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600" indent="0">
              <a:buNone/>
              <a:defRPr/>
            </a:lvl2pPr>
            <a:lvl3pPr marL="1523365" indent="0">
              <a:buNone/>
              <a:defRPr/>
            </a:lvl3pPr>
            <a:lvl4pPr marL="2132965" indent="0">
              <a:buNone/>
              <a:defRPr/>
            </a:lvl4pPr>
            <a:lvl5pPr marL="2742565" indent="0"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3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74"/>
            <a:ext cx="12191683" cy="686085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74"/>
            <a:ext cx="12191683" cy="686085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59" y="4406698"/>
            <a:ext cx="10362930" cy="1362012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59" y="2906579"/>
            <a:ext cx="10362930" cy="150011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56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1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33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593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3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600128"/>
            <a:ext cx="5384660" cy="4525754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439" y="1600128"/>
            <a:ext cx="5384660" cy="4525754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84" y="1535043"/>
            <a:ext cx="5386777" cy="63973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765" indent="0">
              <a:buNone/>
              <a:defRPr sz="2100" b="1"/>
            </a:lvl5pPr>
            <a:lvl6pPr marL="3047365" indent="0">
              <a:buNone/>
              <a:defRPr sz="2100" b="1"/>
            </a:lvl6pPr>
            <a:lvl7pPr marL="3656330" indent="0">
              <a:buNone/>
              <a:defRPr sz="2100" b="1"/>
            </a:lvl7pPr>
            <a:lvl8pPr marL="4265930" indent="0">
              <a:buNone/>
              <a:defRPr sz="2100" b="1"/>
            </a:lvl8pPr>
            <a:lvl9pPr marL="4875530" indent="0">
              <a:buNone/>
              <a:defRPr sz="2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84" y="2174774"/>
            <a:ext cx="5386777" cy="3951105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207" y="1535043"/>
            <a:ext cx="5388893" cy="63973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765" indent="0">
              <a:buNone/>
              <a:defRPr sz="2100" b="1"/>
            </a:lvl5pPr>
            <a:lvl6pPr marL="3047365" indent="0">
              <a:buNone/>
              <a:defRPr sz="2100" b="1"/>
            </a:lvl6pPr>
            <a:lvl7pPr marL="3656330" indent="0">
              <a:buNone/>
              <a:defRPr sz="2100" b="1"/>
            </a:lvl7pPr>
            <a:lvl8pPr marL="4265930" indent="0">
              <a:buNone/>
              <a:defRPr sz="2100" b="1"/>
            </a:lvl8pPr>
            <a:lvl9pPr marL="4875530" indent="0">
              <a:buNone/>
              <a:defRPr sz="2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207" y="2174774"/>
            <a:ext cx="5388893" cy="3951105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6" y="273036"/>
            <a:ext cx="4010980" cy="1161997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610" y="273038"/>
            <a:ext cx="6815489" cy="585284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86" y="1435035"/>
            <a:ext cx="4010980" cy="4690846"/>
          </a:xfr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8565" indent="0">
              <a:buNone/>
              <a:defRPr sz="1300"/>
            </a:lvl3pPr>
            <a:lvl4pPr marL="1828165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330" indent="0">
              <a:buNone/>
              <a:defRPr sz="1200"/>
            </a:lvl7pPr>
            <a:lvl8pPr marL="4265930" indent="0">
              <a:buNone/>
              <a:defRPr sz="1200"/>
            </a:lvl8pPr>
            <a:lvl9pPr marL="4875530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655" y="4800379"/>
            <a:ext cx="7315010" cy="566713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655" y="612746"/>
            <a:ext cx="7315010" cy="4114610"/>
          </a:xfrm>
        </p:spPr>
        <p:txBody>
          <a:bodyPr vert="horz" wrap="square" lIns="121917" tIns="60958" rIns="121917" bIns="60958" numCol="1" rtlCol="0" anchor="t" anchorCtr="0" compatLnSpc="1">
            <a:normAutofit/>
          </a:bodyPr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8565" indent="0">
              <a:buNone/>
              <a:defRPr sz="3200"/>
            </a:lvl3pPr>
            <a:lvl4pPr marL="1828165" indent="0">
              <a:buNone/>
              <a:defRPr sz="2700"/>
            </a:lvl4pPr>
            <a:lvl5pPr marL="2437765" indent="0">
              <a:buNone/>
              <a:defRPr sz="2700"/>
            </a:lvl5pPr>
            <a:lvl6pPr marL="3047365" indent="0">
              <a:buNone/>
              <a:defRPr sz="2700"/>
            </a:lvl6pPr>
            <a:lvl7pPr marL="3656330" indent="0">
              <a:buNone/>
              <a:defRPr sz="2700"/>
            </a:lvl7pPr>
            <a:lvl8pPr marL="4265930" indent="0">
              <a:buNone/>
              <a:defRPr sz="2700"/>
            </a:lvl8pPr>
            <a:lvl9pPr marL="4875530" indent="0">
              <a:buNone/>
              <a:defRPr sz="2700"/>
            </a:lvl9pPr>
          </a:lstStyle>
          <a:p>
            <a:pPr marL="0" marR="0" lvl="0" indent="0" algn="l" defTabSz="121793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单击图标添加图片</a:t>
            </a:r>
            <a:endParaRPr kumimoji="0" lang="zh-CN" altLang="en-US" sz="4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655" y="5367090"/>
            <a:ext cx="7315010" cy="804825"/>
          </a:xfr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8565" indent="0">
              <a:buNone/>
              <a:defRPr sz="1300"/>
            </a:lvl3pPr>
            <a:lvl4pPr marL="1828165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330" indent="0">
              <a:buNone/>
              <a:defRPr sz="1200"/>
            </a:lvl7pPr>
            <a:lvl8pPr marL="4265930" indent="0">
              <a:buNone/>
              <a:defRPr sz="1200"/>
            </a:lvl8pPr>
            <a:lvl9pPr marL="4875530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970" y="274626"/>
            <a:ext cx="2743129" cy="585125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84" y="274626"/>
            <a:ext cx="8026191" cy="585125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590536" y="103183"/>
            <a:ext cx="10991564" cy="13143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584" y="1600128"/>
            <a:ext cx="5384660" cy="215096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439" y="1600128"/>
            <a:ext cx="5384660" cy="215096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584" y="3903483"/>
            <a:ext cx="5384660" cy="215255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439" y="3903483"/>
            <a:ext cx="5384660" cy="215255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矩形 15"/>
          <p:cNvSpPr>
            <a:spLocks noChangeArrowheads="1"/>
          </p:cNvSpPr>
          <p:nvPr/>
        </p:nvSpPr>
        <p:spPr bwMode="auto">
          <a:xfrm>
            <a:off x="8328893" y="390417"/>
            <a:ext cx="3126114" cy="374546"/>
          </a:xfrm>
          <a:prstGeom prst="rect">
            <a:avLst/>
          </a:prstGeom>
          <a:solidFill>
            <a:srgbClr val="3992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455006" y="390417"/>
            <a:ext cx="736677" cy="3745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1"/>
          <p:cNvSpPr>
            <a:spLocks noGrp="1"/>
          </p:cNvSpPr>
          <p:nvPr>
            <p:ph type="title"/>
          </p:nvPr>
        </p:nvSpPr>
        <p:spPr>
          <a:xfrm>
            <a:off x="1054210" y="374546"/>
            <a:ext cx="3973927" cy="390417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文本占位符 2"/>
          <p:cNvSpPr>
            <a:spLocks noGrp="1"/>
          </p:cNvSpPr>
          <p:nvPr>
            <p:ph type="body" idx="1"/>
          </p:nvPr>
        </p:nvSpPr>
        <p:spPr>
          <a:xfrm>
            <a:off x="609664" y="1053807"/>
            <a:ext cx="10972356" cy="5072241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64" y="6356172"/>
            <a:ext cx="2845096" cy="365024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 eaLnBrk="1" hangingPunct="1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6034" y="6356172"/>
            <a:ext cx="3859615" cy="365024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 eaLnBrk="1" hangingPunct="1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同济大学数学系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人民邮电出版社</a:t>
            </a: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923" y="6356172"/>
            <a:ext cx="2845096" cy="365024"/>
          </a:xfrm>
          <a:prstGeom prst="rect">
            <a:avLst/>
          </a:prstGeom>
        </p:spPr>
        <p:txBody>
          <a:bodyPr vert="horz" wrap="square" lIns="121917" tIns="60958" rIns="121917" bIns="60958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C8A0F5-55A2-4D0F-9289-C8080F075731}" type="slidenum"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08168" y="833207"/>
            <a:ext cx="111835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431845" y="390417"/>
            <a:ext cx="520754" cy="274562"/>
            <a:chOff x="0" y="0"/>
            <a:chExt cx="1041399" cy="549275"/>
          </a:xfrm>
        </p:grpSpPr>
        <p:sp>
          <p:nvSpPr>
            <p:cNvPr id="1040" name="Freeform 16"/>
            <p:cNvSpPr/>
            <p:nvPr/>
          </p:nvSpPr>
          <p:spPr>
            <a:xfrm>
              <a:off x="0" y="0"/>
              <a:ext cx="361950" cy="549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3200"/>
            </a:p>
          </p:txBody>
        </p:sp>
        <p:sp>
          <p:nvSpPr>
            <p:cNvPr id="1041" name="Freeform 17"/>
            <p:cNvSpPr/>
            <p:nvPr/>
          </p:nvSpPr>
          <p:spPr>
            <a:xfrm>
              <a:off x="338137" y="0"/>
              <a:ext cx="360362" cy="549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3200"/>
            </a:p>
          </p:txBody>
        </p:sp>
        <p:sp>
          <p:nvSpPr>
            <p:cNvPr id="1042" name="Freeform 18"/>
            <p:cNvSpPr/>
            <p:nvPr/>
          </p:nvSpPr>
          <p:spPr>
            <a:xfrm>
              <a:off x="681037" y="0"/>
              <a:ext cx="360362" cy="549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3200"/>
            </a:p>
          </p:txBody>
        </p:sp>
      </p:grpSp>
      <p:sp>
        <p:nvSpPr>
          <p:cNvPr id="3083" name="TextBox 15"/>
          <p:cNvSpPr txBox="1">
            <a:spLocks noChangeArrowheads="1"/>
          </p:cNvSpPr>
          <p:nvPr/>
        </p:nvSpPr>
        <p:spPr bwMode="auto">
          <a:xfrm>
            <a:off x="11569318" y="296781"/>
            <a:ext cx="576323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0941" rIns="0" bIns="60941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5A5B16-B2D1-4944-8C9B-4A0CD376B1CC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</a:fld>
            <a:r>
              <a: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 </a:t>
            </a: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4" name="标题占位符 1"/>
          <p:cNvSpPr txBox="1"/>
          <p:nvPr/>
        </p:nvSpPr>
        <p:spPr>
          <a:xfrm>
            <a:off x="8328893" y="374546"/>
            <a:ext cx="3105473" cy="390417"/>
          </a:xfrm>
          <a:prstGeom prst="rect">
            <a:avLst/>
          </a:prstGeom>
        </p:spPr>
        <p:txBody>
          <a:bodyPr lIns="121883" tIns="60941" rIns="121883" bIns="60941" anchor="ctr"/>
          <a:lstStyle>
            <a:lvl1pPr algn="l" defTabSz="1219200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marR="0" lvl="0" indent="0" algn="l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第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2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章  随机变量及其分布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7" name="Text Box 7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6576110" y="5805462"/>
            <a:ext cx="14400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Text Box 8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590858" y="5805462"/>
            <a:ext cx="134475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Text Box 9">
            <a:hlinkClick r:id="" action="ppaction://hlinkshowjump?jump=firstslide"/>
          </p:cNvPr>
          <p:cNvSpPr txBox="1">
            <a:spLocks noChangeArrowheads="1"/>
          </p:cNvSpPr>
          <p:nvPr/>
        </p:nvSpPr>
        <p:spPr bwMode="auto">
          <a:xfrm>
            <a:off x="10513520" y="5878467"/>
            <a:ext cx="958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defTabSz="1217295" rtl="0" eaLnBrk="0" fontAlgn="base" hangingPunct="0">
        <a:spcBef>
          <a:spcPct val="0"/>
        </a:spcBef>
        <a:spcAft>
          <a:spcPct val="0"/>
        </a:spcAft>
        <a:defRPr sz="2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defTabSz="1217930" rtl="0" eaLnBrk="0" fontAlgn="base" hangingPunct="0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defTabSz="1217930" rtl="0" eaLnBrk="0" fontAlgn="base" hangingPunct="0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defTabSz="1217930" rtl="0" eaLnBrk="0" fontAlgn="base" hangingPunct="0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defTabSz="1217930" rtl="0" eaLnBrk="0" fontAlgn="base" hangingPunct="0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defTabSz="1217930" rtl="0" fontAlgn="base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defTabSz="1217930" rtl="0" fontAlgn="base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defTabSz="1217930" rtl="0" fontAlgn="base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defTabSz="1217930" rtl="0" fontAlgn="base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455930" indent="-4559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989330" indent="-3797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522095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2131695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741295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33521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13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73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3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3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9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2" Type="http://schemas.openxmlformats.org/officeDocument/2006/relationships/notesSlide" Target="../notesSlides/notesSlide1.xml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9.xml"/><Relationship Id="rId2" Type="http://schemas.openxmlformats.org/officeDocument/2006/relationships/image" Target="../media/image2.wmf"/><Relationship Id="rId19" Type="http://schemas.openxmlformats.org/officeDocument/2006/relationships/image" Target="../media/image10.emf"/><Relationship Id="rId18" Type="http://schemas.openxmlformats.org/officeDocument/2006/relationships/oleObject" Target="../embeddings/oleObject10.bin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1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8.e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1.png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0.bin"/><Relationship Id="rId3" Type="http://schemas.openxmlformats.org/officeDocument/2006/relationships/oleObject" Target="../embeddings/oleObject19.bin"/><Relationship Id="rId2" Type="http://schemas.openxmlformats.org/officeDocument/2006/relationships/image" Target="../media/image9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1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e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4.emf"/><Relationship Id="rId1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30.e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8.e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7.e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9.xml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31.emf"/><Relationship Id="rId1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5.emf"/><Relationship Id="rId1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416092" y="2636106"/>
          <a:ext cx="3881947" cy="1587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" imgW="1689100" imgH="914400" progId="Equation.DSMT4">
                  <p:embed/>
                </p:oleObj>
              </mc:Choice>
              <mc:Fallback>
                <p:oleObj name="" r:id="rId1" imgW="1689100" imgH="914400" progId="Equation.DSMT4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16092" y="2636106"/>
                        <a:ext cx="3881947" cy="158705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870144" y="4407264"/>
          <a:ext cx="5894338" cy="477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3" imgW="2565400" imgH="254000" progId="Equation.DSMT4">
                  <p:embed/>
                </p:oleObj>
              </mc:Choice>
              <mc:Fallback>
                <p:oleObj name="" r:id="rId3" imgW="2565400" imgH="254000" progId="Equation.DSMT4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0144" y="4407264"/>
                        <a:ext cx="5894338" cy="477704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0" name="标题 3"/>
          <p:cNvSpPr txBox="1"/>
          <p:nvPr/>
        </p:nvSpPr>
        <p:spPr>
          <a:xfrm>
            <a:off x="1056135" y="374546"/>
            <a:ext cx="4464398" cy="587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5930" indent="-4559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89330" indent="-3797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5227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21323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7419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/>
              <a:t>三、超几何分布</a:t>
            </a:r>
            <a:endParaRPr lang="zh-CN" altLang="en-US" sz="2200" dirty="0"/>
          </a:p>
        </p:txBody>
      </p:sp>
      <p:grpSp>
        <p:nvGrpSpPr>
          <p:cNvPr id="48133" name="组合 3"/>
          <p:cNvGrpSpPr/>
          <p:nvPr/>
        </p:nvGrpSpPr>
        <p:grpSpPr>
          <a:xfrm>
            <a:off x="1003763" y="1325195"/>
            <a:ext cx="8979581" cy="984405"/>
            <a:chOff x="1001712" y="1326099"/>
            <a:chExt cx="8982076" cy="984888"/>
          </a:xfrm>
        </p:grpSpPr>
        <p:sp>
          <p:nvSpPr>
            <p:cNvPr id="56332" name="TextBox 7"/>
            <p:cNvSpPr txBox="1">
              <a:spLocks noChangeArrowheads="1"/>
            </p:cNvSpPr>
            <p:nvPr/>
          </p:nvSpPr>
          <p:spPr bwMode="auto">
            <a:xfrm>
              <a:off x="1001712" y="1912011"/>
              <a:ext cx="7705726" cy="398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则这   个产品中所含的次品    的分布律为</a:t>
              </a:r>
              <a:endParaRPr kumimoji="1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grpSp>
          <p:nvGrpSpPr>
            <p:cNvPr id="65551" name="组合 2"/>
            <p:cNvGrpSpPr/>
            <p:nvPr/>
          </p:nvGrpSpPr>
          <p:grpSpPr>
            <a:xfrm>
              <a:off x="1549399" y="1326099"/>
              <a:ext cx="8434389" cy="457200"/>
              <a:chOff x="2224086" y="1627188"/>
              <a:chExt cx="8434389" cy="457200"/>
            </a:xfrm>
          </p:grpSpPr>
          <p:sp>
            <p:nvSpPr>
              <p:cNvPr id="56335" name="TextBox 2"/>
              <p:cNvSpPr txBox="1">
                <a:spLocks noChangeArrowheads="1"/>
              </p:cNvSpPr>
              <p:nvPr/>
            </p:nvSpPr>
            <p:spPr bwMode="auto">
              <a:xfrm>
                <a:off x="2224086" y="1673235"/>
                <a:ext cx="8434389" cy="3989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rPr>
                  <a:t>设有    件产品</a:t>
                </a:r>
                <a:r>
                  <a:rPr kumimoji="1" lang="en-US" altLang="zh-CN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rPr>
                  <a:t>,  </a:t>
                </a:r>
                <a:r>
                  <a:rPr kumimoji="1" lang="zh-CN" altLang="en-US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rPr>
                  <a:t>其中     件次品</a:t>
                </a:r>
                <a:r>
                  <a:rPr kumimoji="1" lang="en-US" altLang="zh-CN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rPr>
                  <a:t>.  </a:t>
                </a:r>
                <a:r>
                  <a:rPr kumimoji="1" lang="zh-CN" altLang="en-US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rPr>
                  <a:t>现从中不放回任取   个产品</a:t>
                </a:r>
                <a:r>
                  <a:rPr kumimoji="1" lang="en-US" altLang="zh-CN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rPr>
                  <a:t>,</a:t>
                </a:r>
                <a:endParaRPr kumimoji="1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graphicFrame>
            <p:nvGraphicFramePr>
              <p:cNvPr id="65555" name="Object 5"/>
              <p:cNvGraphicFramePr>
                <a:graphicFrameLocks noChangeAspect="1"/>
              </p:cNvGraphicFramePr>
              <p:nvPr/>
            </p:nvGraphicFramePr>
            <p:xfrm>
              <a:off x="2782886" y="1655769"/>
              <a:ext cx="403225" cy="4001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9" name="" r:id="rId5" imgW="177800" imgH="177800" progId="Equation.DSMT4">
                      <p:embed/>
                    </p:oleObj>
                  </mc:Choice>
                  <mc:Fallback>
                    <p:oleObj name="" r:id="rId5" imgW="177800" imgH="177800" progId="Equation.DSMT4">
                      <p:embed/>
                      <p:pic>
                        <p:nvPicPr>
                          <p:cNvPr id="0" name="图片 3238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782886" y="1655769"/>
                            <a:ext cx="403225" cy="40013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556" name="Object 5"/>
              <p:cNvGraphicFramePr>
                <a:graphicFrameLocks noChangeAspect="1"/>
              </p:cNvGraphicFramePr>
              <p:nvPr/>
            </p:nvGraphicFramePr>
            <p:xfrm>
              <a:off x="4554538" y="1670050"/>
              <a:ext cx="463550" cy="3714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8" name="" r:id="rId7" imgW="203200" imgH="165100" progId="Equation.DSMT4">
                      <p:embed/>
                    </p:oleObj>
                  </mc:Choice>
                  <mc:Fallback>
                    <p:oleObj name="" r:id="rId7" imgW="203200" imgH="165100" progId="Equation.DSMT4">
                      <p:embed/>
                      <p:pic>
                        <p:nvPicPr>
                          <p:cNvPr id="0" name="图片 3247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554538" y="1670050"/>
                            <a:ext cx="463550" cy="37147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557" name="Object 5"/>
              <p:cNvGraphicFramePr>
                <a:graphicFrameLocks noChangeAspect="1"/>
              </p:cNvGraphicFramePr>
              <p:nvPr/>
            </p:nvGraphicFramePr>
            <p:xfrm>
              <a:off x="7967414" y="1698625"/>
              <a:ext cx="288925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0" name="" r:id="rId9" imgW="127000" imgH="139700" progId="Equation.DSMT4">
                      <p:embed/>
                    </p:oleObj>
                  </mc:Choice>
                  <mc:Fallback>
                    <p:oleObj name="" r:id="rId9" imgW="127000" imgH="139700" progId="Equation.DSMT4">
                      <p:embed/>
                      <p:pic>
                        <p:nvPicPr>
                          <p:cNvPr id="0" name="图片 3239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7967414" y="1698625"/>
                            <a:ext cx="288925" cy="31432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558" name="Object 5"/>
              <p:cNvGraphicFramePr>
                <a:graphicFrameLocks noChangeAspect="1"/>
              </p:cNvGraphicFramePr>
              <p:nvPr/>
            </p:nvGraphicFramePr>
            <p:xfrm>
              <a:off x="9032875" y="1627188"/>
              <a:ext cx="1214438" cy="457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1" name="" r:id="rId11" imgW="533400" imgH="203200" progId="Equation.DSMT4">
                      <p:embed/>
                    </p:oleObj>
                  </mc:Choice>
                  <mc:Fallback>
                    <p:oleObj name="" r:id="rId11" imgW="533400" imgH="203200" progId="Equation.DSMT4">
                      <p:embed/>
                      <p:pic>
                        <p:nvPicPr>
                          <p:cNvPr id="0" name="图片 3240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9032875" y="1627188"/>
                            <a:ext cx="1214438" cy="457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5552" name="Object 5"/>
            <p:cNvGraphicFramePr>
              <a:graphicFrameLocks noChangeAspect="1"/>
            </p:cNvGraphicFramePr>
            <p:nvPr/>
          </p:nvGraphicFramePr>
          <p:xfrm>
            <a:off x="1577877" y="1954928"/>
            <a:ext cx="28892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2" name="" r:id="rId13" imgW="127000" imgH="139700" progId="Equation.DSMT4">
                    <p:embed/>
                  </p:oleObj>
                </mc:Choice>
                <mc:Fallback>
                  <p:oleObj name="" r:id="rId13" imgW="127000" imgH="139700" progId="Equation.DSMT4">
                    <p:embed/>
                    <p:pic>
                      <p:nvPicPr>
                        <p:cNvPr id="0" name="图片 324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577877" y="1954928"/>
                          <a:ext cx="288925" cy="3143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53" name="Object 5"/>
            <p:cNvGraphicFramePr>
              <a:graphicFrameLocks noChangeAspect="1"/>
            </p:cNvGraphicFramePr>
            <p:nvPr/>
          </p:nvGraphicFramePr>
          <p:xfrm>
            <a:off x="4073525" y="1925638"/>
            <a:ext cx="40481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3" name="" r:id="rId15" imgW="177800" imgH="165100" progId="Equation.DSMT4">
                    <p:embed/>
                  </p:oleObj>
                </mc:Choice>
                <mc:Fallback>
                  <p:oleObj name="" r:id="rId15" imgW="177800" imgH="165100" progId="Equation.DSMT4">
                    <p:embed/>
                    <p:pic>
                      <p:nvPicPr>
                        <p:cNvPr id="0" name="图片 324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73525" y="1925638"/>
                          <a:ext cx="404813" cy="371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2328" y="5940299"/>
            <a:ext cx="12188614" cy="1001562"/>
            <a:chOff x="0" y="5941949"/>
            <a:chExt cx="12192000" cy="1001840"/>
          </a:xfrm>
        </p:grpSpPr>
        <p:sp>
          <p:nvSpPr>
            <p:cNvPr id="29" name="矩形 28"/>
            <p:cNvSpPr/>
            <p:nvPr/>
          </p:nvSpPr>
          <p:spPr bwMode="auto">
            <a:xfrm>
              <a:off x="0" y="5941949"/>
              <a:ext cx="12192000" cy="4605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65549" name="矩形 29"/>
            <p:cNvSpPr/>
            <p:nvPr/>
          </p:nvSpPr>
          <p:spPr>
            <a:xfrm>
              <a:off x="0" y="6483286"/>
              <a:ext cx="12192000" cy="460503"/>
            </a:xfrm>
            <a:prstGeom prst="rect">
              <a:avLst/>
            </a:prstGeom>
            <a:solidFill>
              <a:srgbClr val="003366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75180" y="5786418"/>
            <a:ext cx="9484265" cy="406716"/>
            <a:chOff x="1073150" y="5788720"/>
            <a:chExt cx="9486900" cy="406196"/>
          </a:xfrm>
        </p:grpSpPr>
        <p:sp>
          <p:nvSpPr>
            <p:cNvPr id="31" name="TextBox 7"/>
            <p:cNvSpPr txBox="1">
              <a:spLocks noChangeArrowheads="1"/>
            </p:cNvSpPr>
            <p:nvPr/>
          </p:nvSpPr>
          <p:spPr bwMode="auto">
            <a:xfrm>
              <a:off x="1073150" y="5796646"/>
              <a:ext cx="9486900" cy="398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我们称     服从参数为                   的</a:t>
              </a:r>
              <a:r>
                <a:rPr kumimoji="1" lang="zh-CN" altLang="en-US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超几何分布</a:t>
              </a:r>
              <a:r>
                <a:rPr kumimoji="1" lang="en-US" altLang="zh-CN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.</a:t>
              </a:r>
              <a:endParaRPr kumimoji="1" lang="en-US" altLang="zh-CN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graphicFrame>
          <p:nvGraphicFramePr>
            <p:cNvPr id="65546" name="Object 5"/>
            <p:cNvGraphicFramePr>
              <a:graphicFrameLocks noChangeAspect="1"/>
            </p:cNvGraphicFramePr>
            <p:nvPr/>
          </p:nvGraphicFramePr>
          <p:xfrm>
            <a:off x="1956594" y="5807770"/>
            <a:ext cx="406400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6" name="" r:id="rId17" imgW="177800" imgH="165100" progId="Equation.DSMT4">
                    <p:embed/>
                  </p:oleObj>
                </mc:Choice>
                <mc:Fallback>
                  <p:oleObj name="" r:id="rId17" imgW="177800" imgH="165100" progId="Equation.DSMT4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56594" y="5807770"/>
                          <a:ext cx="406400" cy="371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47" name="对象 2"/>
            <p:cNvGraphicFramePr>
              <a:graphicFrameLocks noChangeAspect="1"/>
            </p:cNvGraphicFramePr>
            <p:nvPr/>
          </p:nvGraphicFramePr>
          <p:xfrm>
            <a:off x="3548064" y="5788720"/>
            <a:ext cx="1590675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" name="" r:id="rId18" imgW="817245" imgH="199390" progId="Word.Document.12">
                    <p:embed/>
                  </p:oleObj>
                </mc:Choice>
                <mc:Fallback>
                  <p:oleObj name="" r:id="rId18" imgW="817245" imgH="199390" progId="Word.Document.12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548064" y="5788720"/>
                          <a:ext cx="1590675" cy="3905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/>
          <p:cNvSpPr txBox="1"/>
          <p:nvPr/>
        </p:nvSpPr>
        <p:spPr>
          <a:xfrm>
            <a:off x="4481009" y="4954799"/>
            <a:ext cx="435356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n-(N-M)  N-M</a:t>
            </a:r>
            <a:r>
              <a:rPr kumimoji="1" lang="zh-CN" altLang="en-US" sz="12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是正品的次数，如果</a:t>
            </a:r>
            <a:r>
              <a:rPr kumimoji="1" lang="en-US" altLang="zh-CN" sz="12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n</a:t>
            </a:r>
            <a:r>
              <a:rPr kumimoji="1" lang="zh-CN" altLang="en-US" sz="12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的次数比正品次数还多，</a:t>
            </a:r>
            <a:endParaRPr kumimoji="1" lang="en-US" altLang="zh-CN" sz="1200" kern="1200" cap="none" spc="0" normalizeH="0" baseline="0" noProof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         </a:t>
            </a:r>
            <a:r>
              <a:rPr kumimoji="1" lang="zh-CN" altLang="en-US" sz="12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抽</a:t>
            </a:r>
            <a:r>
              <a:rPr kumimoji="1" lang="en-US" altLang="zh-CN" sz="12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n</a:t>
            </a:r>
            <a:r>
              <a:rPr kumimoji="1" lang="zh-CN" altLang="en-US" sz="12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次必然会抽到次品，所以最小的次品个数大于</a:t>
            </a:r>
            <a:r>
              <a:rPr kumimoji="1" lang="en-US" altLang="zh-CN" sz="12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0</a:t>
            </a:r>
            <a:endParaRPr kumimoji="1" lang="zh-CN" altLang="en-US" sz="1200" kern="1200" cap="none" spc="0" normalizeH="0" baseline="0" noProof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矩形 1"/>
          <p:cNvSpPr>
            <a:spLocks noChangeArrowheads="1"/>
          </p:cNvSpPr>
          <p:nvPr/>
        </p:nvSpPr>
        <p:spPr bwMode="auto">
          <a:xfrm>
            <a:off x="768878" y="909385"/>
            <a:ext cx="10653929" cy="563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举一个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，假设现在有一个扑克牌堆，其中有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张牌，其中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张牌是红心牌。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、从牌堆中不放回地抽取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张牌，写出抽取红心牌张数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的分布律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根据超几何分布的定义，可知：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= 52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（总牌数）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 = 13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（红心牌的数量）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= 7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（抽取牌的总数）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n-(N-M) = 7 - (52-13) = -32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，这个值小于等于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，因此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max(0, n-(N-M))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的值为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的取值范围为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min(n, M)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之间，即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的取值范围为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之间。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、从牌堆中不放回地抽取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张牌，写出抽取红心牌张数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的分布律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= 40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（抽取牌的总数）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，因此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n-(N-M)=1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大于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max(0, n-(N-M))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那么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的取值范围就是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max(0, 40-(52-13))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min(40, 13)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之间，即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/>
        </p:nvGraphicFramePr>
        <p:xfrm>
          <a:off x="4223905" y="1990172"/>
          <a:ext cx="2794812" cy="1150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1" imgW="1676400" imgH="914400" progId="Equation.DSMT4">
                  <p:embed/>
                </p:oleObj>
              </mc:Choice>
              <mc:Fallback>
                <p:oleObj name="" r:id="rId1" imgW="1676400" imgH="914400" progId="Equation.DSMT4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23905" y="1990172"/>
                        <a:ext cx="2794812" cy="115061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220273" y="2221883"/>
          <a:ext cx="4507248" cy="687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3" imgW="2590800" imgH="482600" progId="Equation.DSMT4">
                  <p:embed/>
                </p:oleObj>
              </mc:Choice>
              <mc:Fallback>
                <p:oleObj name="" r:id="rId3" imgW="2590800" imgH="482600" progId="Equation.DSMT4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20273" y="2221883"/>
                        <a:ext cx="4507248" cy="687197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4193751" y="4653257"/>
          <a:ext cx="2793224" cy="1150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5" imgW="1676400" imgH="914400" progId="Equation.DSMT4">
                  <p:embed/>
                </p:oleObj>
              </mc:Choice>
              <mc:Fallback>
                <p:oleObj name="" r:id="rId5" imgW="1676400" imgH="914400" progId="Equation.DSMT4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3751" y="4653257"/>
                        <a:ext cx="2793224" cy="115061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088547" y="4884968"/>
          <a:ext cx="4772286" cy="687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7" imgW="2743200" imgH="482600" progId="Equation.DSMT4">
                  <p:embed/>
                </p:oleObj>
              </mc:Choice>
              <mc:Fallback>
                <p:oleObj name="" r:id="rId7" imgW="2743200" imgH="482600" progId="Equation.DSMT4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88547" y="4884968"/>
                        <a:ext cx="4772286" cy="687197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1" name="标题 3"/>
          <p:cNvSpPr txBox="1"/>
          <p:nvPr/>
        </p:nvSpPr>
        <p:spPr>
          <a:xfrm>
            <a:off x="1056135" y="374546"/>
            <a:ext cx="4464398" cy="587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5930" indent="-4559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89330" indent="-3797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5227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21323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7419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/>
              <a:t>三、超几何分布</a:t>
            </a:r>
            <a:endParaRPr lang="zh-CN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标题 3"/>
          <p:cNvSpPr txBox="1"/>
          <p:nvPr/>
        </p:nvSpPr>
        <p:spPr>
          <a:xfrm>
            <a:off x="1056135" y="374546"/>
            <a:ext cx="4464398" cy="587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5930" indent="-4559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89330" indent="-3797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5227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21323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7419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/>
              <a:t>三、超几何分布</a:t>
            </a:r>
            <a:endParaRPr lang="zh-CN" altLang="en-US" sz="2200" dirty="0"/>
          </a:p>
        </p:txBody>
      </p:sp>
      <p:pic>
        <p:nvPicPr>
          <p:cNvPr id="68611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315" y="1331543"/>
            <a:ext cx="5446787" cy="434219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2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15" y="1488661"/>
            <a:ext cx="5975278" cy="402795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3000283" y="2580558"/>
          <a:ext cx="6053044" cy="1733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1" imgW="2413000" imgH="914400" progId="Equation.DSMT4">
                  <p:embed/>
                </p:oleObj>
              </mc:Choice>
              <mc:Fallback>
                <p:oleObj name="" r:id="rId1" imgW="2413000" imgH="914400" progId="Equation.DSMT4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0283" y="2580558"/>
                        <a:ext cx="6053044" cy="1733069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对象 2"/>
          <p:cNvGraphicFramePr>
            <a:graphicFrameLocks noChangeAspect="1"/>
          </p:cNvGraphicFramePr>
          <p:nvPr/>
        </p:nvGraphicFramePr>
        <p:xfrm>
          <a:off x="1059309" y="4978605"/>
          <a:ext cx="10530138" cy="1828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3" imgW="5957570" imgH="1039495" progId="Word.Document.12">
                  <p:embed/>
                </p:oleObj>
              </mc:Choice>
              <mc:Fallback>
                <p:oleObj name="" r:id="rId3" imgW="5957570" imgH="1039495" progId="Word.Document.12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9309" y="4978605"/>
                        <a:ext cx="10530138" cy="182829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标题 3"/>
          <p:cNvSpPr txBox="1"/>
          <p:nvPr/>
        </p:nvSpPr>
        <p:spPr>
          <a:xfrm>
            <a:off x="1056135" y="374546"/>
            <a:ext cx="4464398" cy="587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5930" indent="-4559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89330" indent="-3797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5227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21323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7419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/>
              <a:t>三、超几何分布</a:t>
            </a:r>
            <a:endParaRPr lang="zh-CN" altLang="en-US" sz="2200" dirty="0"/>
          </a:p>
        </p:txBody>
      </p:sp>
      <p:grpSp>
        <p:nvGrpSpPr>
          <p:cNvPr id="3" name="组合 2"/>
          <p:cNvGrpSpPr/>
          <p:nvPr/>
        </p:nvGrpSpPr>
        <p:grpSpPr>
          <a:xfrm>
            <a:off x="1279911" y="1247428"/>
            <a:ext cx="7786112" cy="752266"/>
            <a:chOff x="1277938" y="1247140"/>
            <a:chExt cx="7788275" cy="753746"/>
          </a:xfrm>
        </p:grpSpPr>
        <p:sp>
          <p:nvSpPr>
            <p:cNvPr id="58373" name="TextBox 1"/>
            <p:cNvSpPr txBox="1">
              <a:spLocks noChangeArrowheads="1"/>
            </p:cNvSpPr>
            <p:nvPr/>
          </p:nvSpPr>
          <p:spPr bwMode="auto">
            <a:xfrm>
              <a:off x="1277938" y="1457044"/>
              <a:ext cx="7788275" cy="399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记              </a:t>
              </a:r>
              <a:r>
                <a:rPr kumimoji="1" lang="en-US" altLang="zh-CN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,  </a:t>
              </a:r>
              <a:r>
                <a:rPr kumimoji="1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可以证明，有</a:t>
              </a:r>
              <a:endParaRPr kumimoji="1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graphicFrame>
          <p:nvGraphicFramePr>
            <p:cNvPr id="69639" name="Object 5"/>
            <p:cNvGraphicFramePr>
              <a:graphicFrameLocks noChangeAspect="1"/>
            </p:cNvGraphicFramePr>
            <p:nvPr/>
          </p:nvGraphicFramePr>
          <p:xfrm>
            <a:off x="1630710" y="1247140"/>
            <a:ext cx="936104" cy="7537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8" name="" r:id="rId5" imgW="482600" imgH="393700" progId="Equation.DSMT4">
                    <p:embed/>
                  </p:oleObj>
                </mc:Choice>
                <mc:Fallback>
                  <p:oleObj name="" r:id="rId5" imgW="482600" imgH="393700" progId="Equation.DSMT4">
                    <p:embed/>
                    <p:pic>
                      <p:nvPicPr>
                        <p:cNvPr id="0" name="图片 325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30710" y="1247140"/>
                          <a:ext cx="936104" cy="7537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标题 3"/>
          <p:cNvSpPr txBox="1"/>
          <p:nvPr/>
        </p:nvSpPr>
        <p:spPr>
          <a:xfrm>
            <a:off x="1056135" y="374546"/>
            <a:ext cx="4464398" cy="587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5930" indent="-4559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89330" indent="-3797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5227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21323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7419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/>
              <a:t>四、几何分布与负二项分布</a:t>
            </a:r>
            <a:endParaRPr lang="zh-CN" altLang="en-US" sz="2200" dirty="0"/>
          </a:p>
        </p:txBody>
      </p:sp>
      <p:sp>
        <p:nvSpPr>
          <p:cNvPr id="28" name="矩形 27"/>
          <p:cNvSpPr/>
          <p:nvPr/>
        </p:nvSpPr>
        <p:spPr bwMode="auto">
          <a:xfrm>
            <a:off x="2328" y="3719210"/>
            <a:ext cx="12188614" cy="4603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89464" y="2548754"/>
            <a:ext cx="323760" cy="460375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txBody>
          <a:bodyPr anchor="ctr" anchorCtr="0">
            <a:spAutoFit/>
          </a:bodyPr>
          <a:p>
            <a:pPr algn="ctr" eaLnBrk="1" hangingPunct="1"/>
            <a:endParaRPr lang="zh-CN" altLang="en-US" sz="2400" b="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32253" y="2548754"/>
            <a:ext cx="323760" cy="460375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txBody>
          <a:bodyPr anchor="ctr" anchorCtr="0">
            <a:spAutoFit/>
          </a:bodyPr>
          <a:p>
            <a:pPr algn="ctr" eaLnBrk="1" hangingPunct="1"/>
            <a:endParaRPr lang="zh-CN" altLang="en-US" sz="2400" b="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32391" y="2548754"/>
            <a:ext cx="323760" cy="460375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txBody>
          <a:bodyPr anchor="ctr" anchorCtr="0">
            <a:spAutoFit/>
          </a:bodyPr>
          <a:p>
            <a:pPr algn="ctr" eaLnBrk="1" hangingPunct="1"/>
            <a:endParaRPr lang="zh-CN" altLang="en-US" sz="2400" b="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64208" y="2548754"/>
            <a:ext cx="323760" cy="460375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txBody>
          <a:bodyPr anchor="ctr" anchorCtr="0">
            <a:spAutoFit/>
          </a:bodyPr>
          <a:p>
            <a:pPr algn="ctr" eaLnBrk="1" hangingPunct="1"/>
            <a:endParaRPr lang="zh-CN" altLang="en-US" sz="2400" b="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488028" y="4178663"/>
            <a:ext cx="1702914" cy="460375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txBody>
          <a:bodyPr anchor="ctr" anchorCtr="0">
            <a:spAutoFit/>
          </a:bodyPr>
          <a:p>
            <a:pPr algn="ctr" eaLnBrk="1" hangingPunct="1"/>
            <a:endParaRPr lang="zh-CN" altLang="en-US" sz="2400" b="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02038" y="3090005"/>
            <a:ext cx="4283472" cy="398780"/>
            <a:chOff x="2311578" y="1795387"/>
            <a:chExt cx="4284663" cy="400130"/>
          </a:xfrm>
        </p:grpSpPr>
        <p:sp>
          <p:nvSpPr>
            <p:cNvPr id="29" name="Text Box 2"/>
            <p:cNvSpPr txBox="1">
              <a:spLocks noChangeArrowheads="1"/>
            </p:cNvSpPr>
            <p:nvPr/>
          </p:nvSpPr>
          <p:spPr bwMode="auto">
            <a:xfrm>
              <a:off x="2311578" y="1795387"/>
              <a:ext cx="4284663" cy="400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如果随机变量     的分布律为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graphicFrame>
          <p:nvGraphicFramePr>
            <p:cNvPr id="70693" name="Object 5"/>
            <p:cNvGraphicFramePr>
              <a:graphicFrameLocks noChangeAspect="1"/>
            </p:cNvGraphicFramePr>
            <p:nvPr/>
          </p:nvGraphicFramePr>
          <p:xfrm>
            <a:off x="3907214" y="1805545"/>
            <a:ext cx="404813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5" name="" r:id="rId1" imgW="177800" imgH="165100" progId="Equation.DSMT4">
                    <p:embed/>
                  </p:oleObj>
                </mc:Choice>
                <mc:Fallback>
                  <p:oleObj name="" r:id="rId1" imgW="177800" imgH="165100" progId="Equation.DSMT4">
                    <p:embed/>
                    <p:pic>
                      <p:nvPicPr>
                        <p:cNvPr id="0" name="图片 325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07214" y="1805545"/>
                          <a:ext cx="404813" cy="371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1087876" y="5176987"/>
            <a:ext cx="8532030" cy="409890"/>
            <a:chOff x="1096963" y="4840288"/>
            <a:chExt cx="8534400" cy="410003"/>
          </a:xfrm>
        </p:grpSpPr>
        <p:sp>
          <p:nvSpPr>
            <p:cNvPr id="39" name="矩形 3"/>
            <p:cNvSpPr>
              <a:spLocks noChangeArrowheads="1"/>
            </p:cNvSpPr>
            <p:nvPr/>
          </p:nvSpPr>
          <p:spPr bwMode="auto">
            <a:xfrm>
              <a:off x="1096963" y="4851401"/>
              <a:ext cx="8534400" cy="398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则称     服从参数为    的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几何分布</a:t>
              </a: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.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graphicFrame>
          <p:nvGraphicFramePr>
            <p:cNvPr id="70690" name="Object 5"/>
            <p:cNvGraphicFramePr>
              <a:graphicFrameLocks noChangeAspect="1"/>
            </p:cNvGraphicFramePr>
            <p:nvPr/>
          </p:nvGraphicFramePr>
          <p:xfrm>
            <a:off x="1703388" y="4840288"/>
            <a:ext cx="404812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6" name="" r:id="rId3" imgW="177800" imgH="165100" progId="Equation.DSMT4">
                    <p:embed/>
                  </p:oleObj>
                </mc:Choice>
                <mc:Fallback>
                  <p:oleObj name="" r:id="rId3" imgW="177800" imgH="165100" progId="Equation.DSMT4">
                    <p:embed/>
                    <p:pic>
                      <p:nvPicPr>
                        <p:cNvPr id="0" name="图片 325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03388" y="4840288"/>
                          <a:ext cx="404812" cy="371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91" name="Object 5"/>
            <p:cNvGraphicFramePr>
              <a:graphicFrameLocks noChangeAspect="1"/>
            </p:cNvGraphicFramePr>
            <p:nvPr/>
          </p:nvGraphicFramePr>
          <p:xfrm>
            <a:off x="3300413" y="4840288"/>
            <a:ext cx="346075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7" name="" r:id="rId4" imgW="152400" imgH="165100" progId="Equation.DSMT4">
                    <p:embed/>
                  </p:oleObj>
                </mc:Choice>
                <mc:Fallback>
                  <p:oleObj name="" r:id="rId4" imgW="152400" imgH="165100" progId="Equation.DSMT4">
                    <p:embed/>
                    <p:pic>
                      <p:nvPicPr>
                        <p:cNvPr id="0" name="图片 325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300413" y="4840288"/>
                          <a:ext cx="346075" cy="371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0667" name="组合 20"/>
          <p:cNvGrpSpPr/>
          <p:nvPr/>
        </p:nvGrpSpPr>
        <p:grpSpPr>
          <a:xfrm>
            <a:off x="-846" y="6107927"/>
            <a:ext cx="12255271" cy="474936"/>
            <a:chOff x="-2540" y="3396638"/>
            <a:chExt cx="12258200" cy="475341"/>
          </a:xfrm>
        </p:grpSpPr>
        <p:sp>
          <p:nvSpPr>
            <p:cNvPr id="70682" name="矩形 21"/>
            <p:cNvSpPr/>
            <p:nvPr/>
          </p:nvSpPr>
          <p:spPr>
            <a:xfrm>
              <a:off x="11324" y="3411212"/>
              <a:ext cx="12180676" cy="460767"/>
            </a:xfrm>
            <a:prstGeom prst="rect">
              <a:avLst/>
            </a:prstGeom>
            <a:solidFill>
              <a:srgbClr val="0056AC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83" name="矩形 22"/>
            <p:cNvSpPr/>
            <p:nvPr/>
          </p:nvSpPr>
          <p:spPr>
            <a:xfrm>
              <a:off x="-2540" y="3403592"/>
              <a:ext cx="75906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84" name="矩形 23"/>
            <p:cNvSpPr/>
            <p:nvPr/>
          </p:nvSpPr>
          <p:spPr>
            <a:xfrm>
              <a:off x="12054840" y="3403592"/>
              <a:ext cx="20082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85" name="矩形 24"/>
            <p:cNvSpPr/>
            <p:nvPr/>
          </p:nvSpPr>
          <p:spPr>
            <a:xfrm>
              <a:off x="11748628" y="3403592"/>
              <a:ext cx="20082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86" name="矩形 25"/>
            <p:cNvSpPr/>
            <p:nvPr/>
          </p:nvSpPr>
          <p:spPr>
            <a:xfrm>
              <a:off x="11424592" y="3403592"/>
              <a:ext cx="20082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87" name="矩形 26"/>
            <p:cNvSpPr/>
            <p:nvPr/>
          </p:nvSpPr>
          <p:spPr>
            <a:xfrm>
              <a:off x="11118380" y="3403592"/>
              <a:ext cx="20082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88" name="矩形 27"/>
            <p:cNvSpPr/>
            <p:nvPr/>
          </p:nvSpPr>
          <p:spPr>
            <a:xfrm>
              <a:off x="1710760" y="3396638"/>
              <a:ext cx="808856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70668" name="组合 19"/>
          <p:cNvGrpSpPr/>
          <p:nvPr/>
        </p:nvGrpSpPr>
        <p:grpSpPr>
          <a:xfrm rot="-199680" flipH="1">
            <a:off x="8212185" y="5280146"/>
            <a:ext cx="2836074" cy="1469617"/>
            <a:chOff x="810345" y="1174447"/>
            <a:chExt cx="2836482" cy="1469277"/>
          </a:xfrm>
        </p:grpSpPr>
        <p:sp>
          <p:nvSpPr>
            <p:cNvPr id="58" name="矩形 57"/>
            <p:cNvSpPr/>
            <p:nvPr/>
          </p:nvSpPr>
          <p:spPr>
            <a:xfrm>
              <a:off x="821335" y="1400002"/>
              <a:ext cx="495234" cy="534715"/>
            </a:xfrm>
            <a:prstGeom prst="rect">
              <a:avLst/>
            </a:prstGeom>
            <a:solidFill>
              <a:srgbClr val="85D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1635268" y="2044143"/>
              <a:ext cx="266664" cy="28719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1831120" y="1596716"/>
              <a:ext cx="342854" cy="36969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2263916" y="1972635"/>
              <a:ext cx="266664" cy="28719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3358309" y="1640314"/>
              <a:ext cx="44444" cy="460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 flipV="1">
              <a:off x="1058657" y="2354211"/>
              <a:ext cx="266664" cy="287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2725880" y="1885131"/>
              <a:ext cx="106349" cy="1142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3404669" y="1876127"/>
              <a:ext cx="266664" cy="28719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2920094" y="2128396"/>
              <a:ext cx="266664" cy="2871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2657042" y="1460256"/>
              <a:ext cx="266664" cy="287192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2168739" y="1156462"/>
              <a:ext cx="266664" cy="28719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70669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57" y="1090310"/>
            <a:ext cx="9422370" cy="151246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8" name="Object 2"/>
          <p:cNvGraphicFramePr>
            <a:graphicFrameLocks noChangeAspect="1"/>
          </p:cNvGraphicFramePr>
          <p:nvPr/>
        </p:nvGraphicFramePr>
        <p:xfrm>
          <a:off x="1976629" y="3664520"/>
          <a:ext cx="8473309" cy="1010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7" imgW="3378200" imgH="533400" progId="Equation.DSMT4">
                  <p:embed/>
                </p:oleObj>
              </mc:Choice>
              <mc:Fallback>
                <p:oleObj name="" r:id="rId7" imgW="3378200" imgH="533400" progId="Equation.DSMT4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6629" y="3664520"/>
                        <a:ext cx="8473309" cy="1010956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215" y="4672330"/>
            <a:ext cx="5793105" cy="11252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42670" y="3790315"/>
            <a:ext cx="92246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X是在一系列独立的伯努利试验中首次出现“成功”之前的“失败”次数。每次试验中成功的概率为p。那么X服从参数为p的几何分布。</a:t>
            </a:r>
            <a:endParaRPr lang="zh-CN" alt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0669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57" y="1090310"/>
            <a:ext cx="9422370" cy="151246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矩形 27"/>
          <p:cNvSpPr/>
          <p:nvPr/>
        </p:nvSpPr>
        <p:spPr bwMode="auto">
          <a:xfrm>
            <a:off x="2963" y="3041665"/>
            <a:ext cx="12188614" cy="4603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2226" name="对象 1"/>
          <p:cNvGraphicFramePr>
            <a:graphicFrameLocks noChangeAspect="1"/>
          </p:cNvGraphicFramePr>
          <p:nvPr/>
        </p:nvGraphicFramePr>
        <p:xfrm>
          <a:off x="1919495" y="2267908"/>
          <a:ext cx="9065282" cy="1352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1" imgW="4829175" imgH="728980" progId="Word.Document.12">
                  <p:embed/>
                </p:oleObj>
              </mc:Choice>
              <mc:Fallback>
                <p:oleObj name="" r:id="rId1" imgW="4829175" imgH="728980" progId="Word.Document.12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9495" y="2267908"/>
                        <a:ext cx="9065282" cy="135217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3" name="标题 3"/>
          <p:cNvSpPr txBox="1"/>
          <p:nvPr/>
        </p:nvSpPr>
        <p:spPr>
          <a:xfrm>
            <a:off x="1056135" y="374546"/>
            <a:ext cx="4464398" cy="587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5930" indent="-4559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89330" indent="-3797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5227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21323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7419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/>
              <a:t>四、几何分布与负二项分布</a:t>
            </a:r>
            <a:endParaRPr lang="zh-CN" altLang="en-US" sz="2200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954563" y="1231558"/>
            <a:ext cx="10684082" cy="503098"/>
          </a:xfrm>
          <a:prstGeom prst="rect">
            <a:avLst/>
          </a:prstGeom>
        </p:spPr>
        <p:txBody>
          <a:bodyPr lIns="121883" tIns="60941" rIns="121883" bIns="60941" anchor="ctr">
            <a:normAutofit/>
          </a:bodyPr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608330" indent="-1511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217930" indent="-303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827530" indent="-4559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437130" indent="-6083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几何分布也是一种常用的离散型分布，例如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pSp>
        <p:nvGrpSpPr>
          <p:cNvPr id="52229" name="组合 11"/>
          <p:cNvGrpSpPr/>
          <p:nvPr/>
        </p:nvGrpSpPr>
        <p:grpSpPr>
          <a:xfrm>
            <a:off x="1048200" y="2317356"/>
            <a:ext cx="550545" cy="625110"/>
            <a:chOff x="6242320" y="1105977"/>
            <a:chExt cx="550287" cy="624878"/>
          </a:xfrm>
        </p:grpSpPr>
        <p:sp>
          <p:nvSpPr>
            <p:cNvPr id="71695" name="TextBox 6"/>
            <p:cNvSpPr txBox="1"/>
            <p:nvPr/>
          </p:nvSpPr>
          <p:spPr>
            <a:xfrm>
              <a:off x="6327224" y="1105977"/>
              <a:ext cx="448425" cy="4919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eaLnBrk="1" hangingPunct="1"/>
              <a:r>
                <a:rPr lang="en-US" altLang="zh-CN" sz="3200" dirty="0">
                  <a:solidFill>
                    <a:srgbClr val="FF9900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01</a:t>
              </a:r>
              <a:endParaRPr lang="en-US" altLang="zh-CN" sz="3200" dirty="0">
                <a:solidFill>
                  <a:srgbClr val="FF9900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  <p:sp>
          <p:nvSpPr>
            <p:cNvPr id="71696" name="文本框 22"/>
            <p:cNvSpPr txBox="1"/>
            <p:nvPr/>
          </p:nvSpPr>
          <p:spPr>
            <a:xfrm>
              <a:off x="6242320" y="1516939"/>
              <a:ext cx="550287" cy="2139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800" dirty="0">
                  <a:solidFill>
                    <a:srgbClr val="818181"/>
                  </a:solidFill>
                  <a:latin typeface="Leelawadee" panose="020B0502040204020203" pitchFamily="34" charset="-34"/>
                  <a:ea typeface="Leelawadee" panose="020B0502040204020203" pitchFamily="34" charset="-34"/>
                </a:rPr>
                <a:t>OPTION</a:t>
              </a:r>
              <a:endParaRPr lang="zh-CN" altLang="en-US" sz="800" dirty="0">
                <a:solidFill>
                  <a:srgbClr val="818181"/>
                </a:solidFill>
                <a:latin typeface="Leelawadee" panose="020B0502040204020203" pitchFamily="34" charset="-34"/>
                <a:ea typeface="Leelawadee" panose="020B0502040204020203" pitchFamily="34" charset="-34"/>
              </a:endParaRPr>
            </a:p>
          </p:txBody>
        </p:sp>
      </p:grpSp>
      <p:grpSp>
        <p:nvGrpSpPr>
          <p:cNvPr id="52230" name="组合 14"/>
          <p:cNvGrpSpPr/>
          <p:nvPr/>
        </p:nvGrpSpPr>
        <p:grpSpPr>
          <a:xfrm>
            <a:off x="1052961" y="3391661"/>
            <a:ext cx="550545" cy="630124"/>
            <a:chOff x="6242320" y="2373348"/>
            <a:chExt cx="550286" cy="630236"/>
          </a:xfrm>
        </p:grpSpPr>
        <p:sp>
          <p:nvSpPr>
            <p:cNvPr id="71693" name="TextBox 6"/>
            <p:cNvSpPr txBox="1"/>
            <p:nvPr/>
          </p:nvSpPr>
          <p:spPr>
            <a:xfrm>
              <a:off x="6327224" y="2373348"/>
              <a:ext cx="448425" cy="49221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eaLnBrk="1" hangingPunct="1"/>
              <a:r>
                <a:rPr lang="en-US" altLang="zh-CN" sz="3200" dirty="0">
                  <a:solidFill>
                    <a:srgbClr val="01ACBE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02</a:t>
              </a:r>
              <a:endParaRPr lang="en-US" altLang="zh-CN" sz="3200" dirty="0">
                <a:solidFill>
                  <a:srgbClr val="01ACBE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  <p:sp>
          <p:nvSpPr>
            <p:cNvPr id="71694" name="文本框 23"/>
            <p:cNvSpPr txBox="1"/>
            <p:nvPr/>
          </p:nvSpPr>
          <p:spPr>
            <a:xfrm>
              <a:off x="6242320" y="2789551"/>
              <a:ext cx="550286" cy="2140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800" dirty="0">
                  <a:solidFill>
                    <a:srgbClr val="818181"/>
                  </a:solidFill>
                  <a:latin typeface="Leelawadee" panose="020B0502040204020203" pitchFamily="34" charset="-34"/>
                  <a:ea typeface="Leelawadee" panose="020B0502040204020203" pitchFamily="34" charset="-34"/>
                </a:rPr>
                <a:t>OPTION</a:t>
              </a:r>
              <a:endParaRPr lang="zh-CN" altLang="en-US" sz="800" dirty="0">
                <a:solidFill>
                  <a:srgbClr val="818181"/>
                </a:solidFill>
                <a:latin typeface="Leelawadee" panose="020B0502040204020203" pitchFamily="34" charset="-34"/>
                <a:ea typeface="Leelawadee" panose="020B0502040204020203" pitchFamily="34" charset="-34"/>
              </a:endParaRPr>
            </a:p>
          </p:txBody>
        </p:sp>
      </p:grpSp>
      <p:grpSp>
        <p:nvGrpSpPr>
          <p:cNvPr id="52231" name="组合 17"/>
          <p:cNvGrpSpPr/>
          <p:nvPr/>
        </p:nvGrpSpPr>
        <p:grpSpPr>
          <a:xfrm>
            <a:off x="1052961" y="4598845"/>
            <a:ext cx="550545" cy="618492"/>
            <a:chOff x="6242320" y="3640285"/>
            <a:chExt cx="550286" cy="620032"/>
          </a:xfrm>
        </p:grpSpPr>
        <p:sp>
          <p:nvSpPr>
            <p:cNvPr id="71691" name="TextBox 6"/>
            <p:cNvSpPr txBox="1"/>
            <p:nvPr/>
          </p:nvSpPr>
          <p:spPr>
            <a:xfrm>
              <a:off x="6327224" y="3640285"/>
              <a:ext cx="448425" cy="4933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eaLnBrk="1" hangingPunct="1"/>
              <a:r>
                <a:rPr lang="en-US" altLang="zh-CN" sz="3200" dirty="0">
                  <a:solidFill>
                    <a:srgbClr val="C00000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03</a:t>
              </a:r>
              <a:endParaRPr lang="en-US" altLang="zh-CN" sz="3200" dirty="0">
                <a:solidFill>
                  <a:srgbClr val="C00000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  <p:sp>
          <p:nvSpPr>
            <p:cNvPr id="71692" name="文本框 24"/>
            <p:cNvSpPr txBox="1"/>
            <p:nvPr/>
          </p:nvSpPr>
          <p:spPr>
            <a:xfrm>
              <a:off x="6242320" y="4045789"/>
              <a:ext cx="550286" cy="2145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800" dirty="0">
                  <a:solidFill>
                    <a:srgbClr val="818181"/>
                  </a:solidFill>
                  <a:latin typeface="Leelawadee" panose="020B0502040204020203" pitchFamily="34" charset="-34"/>
                  <a:ea typeface="Leelawadee" panose="020B0502040204020203" pitchFamily="34" charset="-34"/>
                </a:rPr>
                <a:t>OPTION</a:t>
              </a:r>
              <a:endParaRPr lang="zh-CN" altLang="en-US" sz="800" dirty="0">
                <a:solidFill>
                  <a:srgbClr val="818181"/>
                </a:solidFill>
                <a:latin typeface="Leelawadee" panose="020B0502040204020203" pitchFamily="34" charset="-34"/>
                <a:ea typeface="Leelawadee" panose="020B0502040204020203" pitchFamily="34" charset="-34"/>
              </a:endParaRPr>
            </a:p>
          </p:txBody>
        </p:sp>
      </p:grpSp>
      <p:cxnSp>
        <p:nvCxnSpPr>
          <p:cNvPr id="17" name="直接连接符 16"/>
          <p:cNvCxnSpPr/>
          <p:nvPr/>
        </p:nvCxnSpPr>
        <p:spPr>
          <a:xfrm>
            <a:off x="913300" y="1807661"/>
            <a:ext cx="10509506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233" name="对象 1"/>
          <p:cNvGraphicFramePr>
            <a:graphicFrameLocks noChangeAspect="1"/>
          </p:cNvGraphicFramePr>
          <p:nvPr/>
        </p:nvGraphicFramePr>
        <p:xfrm>
          <a:off x="1886167" y="3334412"/>
          <a:ext cx="9769936" cy="1228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3" imgW="5217160" imgH="660400" progId="Word.Document.12">
                  <p:embed/>
                </p:oleObj>
              </mc:Choice>
              <mc:Fallback>
                <p:oleObj name="" r:id="rId3" imgW="5217160" imgH="660400" progId="Word.Document.12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6167" y="3334412"/>
                        <a:ext cx="9769936" cy="122838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对象 1"/>
          <p:cNvGraphicFramePr>
            <a:graphicFrameLocks noChangeAspect="1"/>
          </p:cNvGraphicFramePr>
          <p:nvPr/>
        </p:nvGraphicFramePr>
        <p:xfrm>
          <a:off x="1887754" y="4570730"/>
          <a:ext cx="8509811" cy="1882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5" imgW="4669155" imgH="1043940" progId="Word.Document.12">
                  <p:embed/>
                </p:oleObj>
              </mc:Choice>
              <mc:Fallback>
                <p:oleObj name="" r:id="rId5" imgW="4669155" imgH="1043940" progId="Word.Document.12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87754" y="4570730"/>
                        <a:ext cx="8509811" cy="188225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标题 3"/>
          <p:cNvSpPr txBox="1"/>
          <p:nvPr/>
        </p:nvSpPr>
        <p:spPr>
          <a:xfrm>
            <a:off x="1056135" y="374546"/>
            <a:ext cx="4464398" cy="587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5930" indent="-4559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89330" indent="-3797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5227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21323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7419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/>
              <a:t>四、几何分布与负二项分布</a:t>
            </a:r>
            <a:endParaRPr lang="zh-CN" altLang="en-US" sz="2200" dirty="0"/>
          </a:p>
        </p:txBody>
      </p:sp>
      <p:grpSp>
        <p:nvGrpSpPr>
          <p:cNvPr id="3" name="组合 2"/>
          <p:cNvGrpSpPr/>
          <p:nvPr/>
        </p:nvGrpSpPr>
        <p:grpSpPr>
          <a:xfrm>
            <a:off x="954563" y="1255364"/>
            <a:ext cx="1018892" cy="517381"/>
            <a:chOff x="952500" y="1255713"/>
            <a:chExt cx="1019175" cy="517525"/>
          </a:xfrm>
        </p:grpSpPr>
        <p:sp>
          <p:nvSpPr>
            <p:cNvPr id="5" name="矩形 4"/>
            <p:cNvSpPr/>
            <p:nvPr/>
          </p:nvSpPr>
          <p:spPr>
            <a:xfrm>
              <a:off x="952500" y="1255713"/>
              <a:ext cx="917575" cy="490537"/>
            </a:xfrm>
            <a:prstGeom prst="rect">
              <a:avLst/>
            </a:prstGeom>
            <a:solidFill>
              <a:srgbClr val="005D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727" name="内容占位符 2"/>
            <p:cNvSpPr txBox="1"/>
            <p:nvPr/>
          </p:nvSpPr>
          <p:spPr>
            <a:xfrm>
              <a:off x="1054100" y="1268413"/>
              <a:ext cx="917575" cy="5048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1883" tIns="60941" rIns="121883" bIns="60941" anchor="ctr" anchorCtr="0"/>
            <a:p>
              <a:pPr eaLnBrk="1" hangingPunct="1"/>
              <a:r>
                <a:rPr lang="zh-CN" altLang="en-US" sz="2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例 </a:t>
              </a:r>
              <a:r>
                <a:rPr lang="en-US" altLang="zh-CN" sz="2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8</a:t>
              </a:r>
              <a:endPara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53254" name="对象 1"/>
          <p:cNvGraphicFramePr>
            <a:graphicFrameLocks noChangeAspect="1"/>
          </p:cNvGraphicFramePr>
          <p:nvPr/>
        </p:nvGraphicFramePr>
        <p:xfrm>
          <a:off x="1413224" y="3059850"/>
          <a:ext cx="8698671" cy="1629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1" imgW="5822315" imgH="1091565" progId="Word.Document.12">
                  <p:embed/>
                </p:oleObj>
              </mc:Choice>
              <mc:Fallback>
                <p:oleObj name="" r:id="rId1" imgW="5822315" imgH="1091565" progId="Word.Document.12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13224" y="3059850"/>
                        <a:ext cx="8698671" cy="16299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032177" y="1196643"/>
            <a:ext cx="9462047" cy="941127"/>
            <a:chOff x="2030413" y="1196975"/>
            <a:chExt cx="9464675" cy="941388"/>
          </a:xfrm>
        </p:grpSpPr>
        <p:sp>
          <p:nvSpPr>
            <p:cNvPr id="4" name="矩形 3"/>
            <p:cNvSpPr/>
            <p:nvPr/>
          </p:nvSpPr>
          <p:spPr>
            <a:xfrm>
              <a:off x="2030413" y="1255713"/>
              <a:ext cx="9464675" cy="49053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aphicFrame>
          <p:nvGraphicFramePr>
            <p:cNvPr id="72725" name="对象 1"/>
            <p:cNvGraphicFramePr>
              <a:graphicFrameLocks noChangeAspect="1"/>
            </p:cNvGraphicFramePr>
            <p:nvPr/>
          </p:nvGraphicFramePr>
          <p:xfrm>
            <a:off x="2132013" y="1196975"/>
            <a:ext cx="8924925" cy="941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" name="" r:id="rId3" imgW="5848350" imgH="616585" progId="Word.Document.12">
                    <p:embed/>
                  </p:oleObj>
                </mc:Choice>
                <mc:Fallback>
                  <p:oleObj name="" r:id="rId3" imgW="5848350" imgH="616585" progId="Word.Document.12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32013" y="1196975"/>
                          <a:ext cx="8924925" cy="9413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56" name="对象 1"/>
          <p:cNvGraphicFramePr>
            <a:graphicFrameLocks noChangeAspect="1"/>
          </p:cNvGraphicFramePr>
          <p:nvPr/>
        </p:nvGraphicFramePr>
        <p:xfrm>
          <a:off x="2075027" y="2271082"/>
          <a:ext cx="8701846" cy="1385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5" imgW="5822315" imgH="941705" progId="Word.Document.12">
                  <p:embed/>
                </p:oleObj>
              </mc:Choice>
              <mc:Fallback>
                <p:oleObj name="" r:id="rId5" imgW="5822315" imgH="941705" progId="Word.Document.12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75027" y="2271082"/>
                        <a:ext cx="8701846" cy="138550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954563" y="2431375"/>
            <a:ext cx="917320" cy="49040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258" name="内容占位符 2"/>
          <p:cNvSpPr txBox="1"/>
          <p:nvPr/>
        </p:nvSpPr>
        <p:spPr>
          <a:xfrm>
            <a:off x="1056135" y="2444071"/>
            <a:ext cx="917320" cy="504685"/>
          </a:xfrm>
          <a:prstGeom prst="rect">
            <a:avLst/>
          </a:prstGeom>
          <a:noFill/>
          <a:ln w="9525">
            <a:noFill/>
          </a:ln>
        </p:spPr>
        <p:txBody>
          <a:bodyPr lIns="121883" tIns="60941" rIns="121883" bIns="60941" anchor="ctr" anchorCtr="0"/>
          <a:p>
            <a:pPr eaLnBrk="1" hangingPunct="1"/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证明</a:t>
            </a:r>
            <a:endParaRPr lang="zh-CN" altLang="en-US" sz="2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3259" name="对象 1"/>
          <p:cNvGraphicFramePr>
            <a:graphicFrameLocks noChangeAspect="1"/>
          </p:cNvGraphicFramePr>
          <p:nvPr/>
        </p:nvGraphicFramePr>
        <p:xfrm>
          <a:off x="3792225" y="3140791"/>
          <a:ext cx="8698672" cy="1466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7" imgW="5822315" imgH="982980" progId="Word.Document.12">
                  <p:embed/>
                </p:oleObj>
              </mc:Choice>
              <mc:Fallback>
                <p:oleObj name="" r:id="rId7" imgW="5822315" imgH="982980" progId="Word.Document.12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92225" y="3140791"/>
                        <a:ext cx="8698672" cy="146644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对象 1"/>
          <p:cNvGraphicFramePr>
            <a:graphicFrameLocks noChangeAspect="1"/>
          </p:cNvGraphicFramePr>
          <p:nvPr/>
        </p:nvGraphicFramePr>
        <p:xfrm>
          <a:off x="1514796" y="4491377"/>
          <a:ext cx="9200181" cy="864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9" imgW="5824220" imgH="549275" progId="Word.Document.12">
                  <p:embed/>
                </p:oleObj>
              </mc:Choice>
              <mc:Fallback>
                <p:oleObj name="" r:id="rId9" imgW="5824220" imgH="549275" progId="Word.Document.12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14796" y="4491377"/>
                        <a:ext cx="9200181" cy="86494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15" name="组合 27"/>
          <p:cNvGrpSpPr/>
          <p:nvPr/>
        </p:nvGrpSpPr>
        <p:grpSpPr>
          <a:xfrm>
            <a:off x="-846" y="6038096"/>
            <a:ext cx="12255271" cy="474936"/>
            <a:chOff x="-2540" y="3396638"/>
            <a:chExt cx="12258200" cy="475341"/>
          </a:xfrm>
        </p:grpSpPr>
        <p:sp>
          <p:nvSpPr>
            <p:cNvPr id="72717" name="矩形 28"/>
            <p:cNvSpPr/>
            <p:nvPr/>
          </p:nvSpPr>
          <p:spPr>
            <a:xfrm>
              <a:off x="11324" y="3411212"/>
              <a:ext cx="12180676" cy="460767"/>
            </a:xfrm>
            <a:prstGeom prst="rect">
              <a:avLst/>
            </a:prstGeom>
            <a:solidFill>
              <a:srgbClr val="0056AC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2718" name="矩形 29"/>
            <p:cNvSpPr/>
            <p:nvPr/>
          </p:nvSpPr>
          <p:spPr>
            <a:xfrm>
              <a:off x="-2540" y="3403592"/>
              <a:ext cx="75906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2719" name="矩形 30"/>
            <p:cNvSpPr/>
            <p:nvPr/>
          </p:nvSpPr>
          <p:spPr>
            <a:xfrm>
              <a:off x="12054840" y="3403592"/>
              <a:ext cx="20082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2720" name="矩形 31"/>
            <p:cNvSpPr/>
            <p:nvPr/>
          </p:nvSpPr>
          <p:spPr>
            <a:xfrm>
              <a:off x="11748628" y="3403592"/>
              <a:ext cx="20082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2721" name="矩形 32"/>
            <p:cNvSpPr/>
            <p:nvPr/>
          </p:nvSpPr>
          <p:spPr>
            <a:xfrm>
              <a:off x="11424592" y="3403592"/>
              <a:ext cx="20082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2722" name="矩形 33"/>
            <p:cNvSpPr/>
            <p:nvPr/>
          </p:nvSpPr>
          <p:spPr>
            <a:xfrm>
              <a:off x="11118380" y="3403592"/>
              <a:ext cx="20082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2723" name="矩形 34"/>
            <p:cNvSpPr/>
            <p:nvPr/>
          </p:nvSpPr>
          <p:spPr>
            <a:xfrm>
              <a:off x="1710760" y="3396638"/>
              <a:ext cx="8088560" cy="460767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endPara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72716" name="对象 5"/>
          <p:cNvGraphicFramePr>
            <a:graphicFrameLocks noChangeAspect="1"/>
          </p:cNvGraphicFramePr>
          <p:nvPr/>
        </p:nvGraphicFramePr>
        <p:xfrm>
          <a:off x="9161247" y="1798139"/>
          <a:ext cx="2786876" cy="1452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1" imgW="2146300" imgH="1117600" progId="Equation.DSMT4">
                  <p:embed/>
                </p:oleObj>
              </mc:Choice>
              <mc:Fallback>
                <p:oleObj name="" r:id="rId11" imgW="2146300" imgH="1117600" progId="Equation.DSMT4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61247" y="1798139"/>
                        <a:ext cx="2786876" cy="145215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532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373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9470" y="1341065"/>
            <a:ext cx="5648344" cy="43802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3731" name="标题 3"/>
          <p:cNvSpPr txBox="1"/>
          <p:nvPr/>
        </p:nvSpPr>
        <p:spPr>
          <a:xfrm>
            <a:off x="1056135" y="374546"/>
            <a:ext cx="4464398" cy="587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5930" indent="-4559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89330" indent="-3797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5227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21323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7419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/>
              <a:t>四、几何分布与负二项分布</a:t>
            </a:r>
            <a:endParaRPr lang="zh-CN" altLang="en-US" sz="2200" dirty="0"/>
          </a:p>
        </p:txBody>
      </p:sp>
      <p:pic>
        <p:nvPicPr>
          <p:cNvPr id="7373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93" y="1772746"/>
            <a:ext cx="5975277" cy="3324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矩形 7"/>
          <p:cNvSpPr/>
          <p:nvPr/>
        </p:nvSpPr>
        <p:spPr>
          <a:xfrm>
            <a:off x="-846" y="3681977"/>
            <a:ext cx="12190202" cy="971280"/>
          </a:xfrm>
          <a:prstGeom prst="rect">
            <a:avLst/>
          </a:prstGeom>
          <a:solidFill>
            <a:srgbClr val="3992DB"/>
          </a:solidFill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4275" name="对象 2"/>
          <p:cNvGraphicFramePr>
            <a:graphicFrameLocks noChangeAspect="1"/>
          </p:cNvGraphicFramePr>
          <p:nvPr/>
        </p:nvGraphicFramePr>
        <p:xfrm>
          <a:off x="1059309" y="1199817"/>
          <a:ext cx="10055607" cy="5199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1" imgW="4986020" imgH="2577465" progId="Word.Document.12">
                  <p:embed/>
                </p:oleObj>
              </mc:Choice>
              <mc:Fallback>
                <p:oleObj name="" r:id="rId1" imgW="4986020" imgH="2577465" progId="Word.Document.12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59309" y="1199817"/>
                        <a:ext cx="10055607" cy="519920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标题 3"/>
          <p:cNvSpPr txBox="1"/>
          <p:nvPr/>
        </p:nvSpPr>
        <p:spPr>
          <a:xfrm>
            <a:off x="1056135" y="374546"/>
            <a:ext cx="4464398" cy="587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5930" indent="-4559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89330" indent="-3797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5227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21323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7419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/>
              <a:t>四、几何分布与负二项分布</a:t>
            </a:r>
            <a:endParaRPr lang="zh-CN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标题 3"/>
          <p:cNvSpPr txBox="1"/>
          <p:nvPr/>
        </p:nvSpPr>
        <p:spPr>
          <a:xfrm>
            <a:off x="1056135" y="374546"/>
            <a:ext cx="4464398" cy="587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5930" indent="-4559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89330" indent="-3797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5227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21323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741930" indent="-303530" algn="l" defTabSz="121793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/>
              <a:t>四、几何分布与负二项分布</a:t>
            </a:r>
            <a:endParaRPr lang="zh-CN" altLang="en-US" sz="2200" dirty="0"/>
          </a:p>
        </p:txBody>
      </p:sp>
      <p:pic>
        <p:nvPicPr>
          <p:cNvPr id="75779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98" y="2348848"/>
            <a:ext cx="5830855" cy="326616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80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475" y="1694979"/>
            <a:ext cx="5741980" cy="442630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4005" y="418465"/>
            <a:ext cx="8221345" cy="63290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k4NTRhZDdlYmU1YjI2M2MyOTYyNjUzODZlZDFiMjQifQ=="/>
</p:tagLst>
</file>

<file path=ppt/theme/theme1.xml><?xml version="1.0" encoding="utf-8"?>
<a:theme xmlns:a="http://schemas.openxmlformats.org/drawingml/2006/main" name="主题1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常用">
      <a:majorFont>
        <a:latin typeface="Arial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WPS 演示</Application>
  <PresentationFormat>宽屏</PresentationFormat>
  <Paragraphs>74</Paragraphs>
  <Slides>12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31</vt:i4>
      </vt:variant>
      <vt:variant>
        <vt:lpstr>幻灯片标题</vt:lpstr>
      </vt:variant>
      <vt:variant>
        <vt:i4>12</vt:i4>
      </vt:variant>
    </vt:vector>
  </HeadingPairs>
  <TitlesOfParts>
    <vt:vector size="58" baseType="lpstr">
      <vt:lpstr>Arial</vt:lpstr>
      <vt:lpstr>宋体</vt:lpstr>
      <vt:lpstr>Wingdings</vt:lpstr>
      <vt:lpstr>微软雅黑</vt:lpstr>
      <vt:lpstr>Times New Roman</vt:lpstr>
      <vt:lpstr>微软雅黑 Light</vt:lpstr>
      <vt:lpstr>楷体_GB2312</vt:lpstr>
      <vt:lpstr>Söhne</vt:lpstr>
      <vt:lpstr>Segoe Print</vt:lpstr>
      <vt:lpstr>Impact</vt:lpstr>
      <vt:lpstr>Leelawadee</vt:lpstr>
      <vt:lpstr>Arial Unicode MS</vt:lpstr>
      <vt:lpstr>Calibri</vt:lpstr>
      <vt:lpstr>新宋体</vt:lpstr>
      <vt:lpstr>主题1</vt:lpstr>
      <vt:lpstr>Equation.DSMT4</vt:lpstr>
      <vt:lpstr>Word.Document.12</vt:lpstr>
      <vt:lpstr>Equation.DSMT4</vt:lpstr>
      <vt:lpstr>Equation.DSMT4</vt:lpstr>
      <vt:lpstr>Equation.DSMT4</vt:lpstr>
      <vt:lpstr>Equation.DSMT4</vt:lpstr>
      <vt:lpstr>Equation.DSMT4</vt:lpstr>
      <vt:lpstr>Word.Document.12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Word.Document.12</vt:lpstr>
      <vt:lpstr>Word.Document.12</vt:lpstr>
      <vt:lpstr>Word.Document.12</vt:lpstr>
      <vt:lpstr>Word.Document.12</vt:lpstr>
      <vt:lpstr>Word.Document.12</vt:lpstr>
      <vt:lpstr>Word.Document.12</vt:lpstr>
      <vt:lpstr>Word.Document.12</vt:lpstr>
      <vt:lpstr>Word.Document.12</vt:lpstr>
      <vt:lpstr>Equation.DSMT4</vt:lpstr>
      <vt:lpstr>Equation.DSMT4</vt:lpstr>
      <vt:lpstr>Word.Document.12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WPS_1693324359</cp:lastModifiedBy>
  <cp:revision>156</cp:revision>
  <dcterms:created xsi:type="dcterms:W3CDTF">2019-06-19T02:08:00Z</dcterms:created>
  <dcterms:modified xsi:type="dcterms:W3CDTF">2024-03-15T02:13:53Z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6DEA1BE7AB3E4F469127355987925972_11</vt:lpwstr>
  </property>
</Properties>
</file>